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bas Neue Cyrillic" charset="1" panose="02000506000000020004"/>
      <p:regular r:id="rId13"/>
    </p:embeddedFont>
    <p:embeddedFont>
      <p:font typeface="Inter Bold" charset="1" panose="02000503000000020004"/>
      <p:regular r:id="rId14"/>
    </p:embeddedFont>
    <p:embeddedFont>
      <p:font typeface="Montserrat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0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3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04503" y="1094372"/>
            <a:ext cx="1440217" cy="1060524"/>
          </a:xfrm>
          <a:custGeom>
            <a:avLst/>
            <a:gdLst/>
            <a:ahLst/>
            <a:cxnLst/>
            <a:rect r="r" b="b" t="t" l="l"/>
            <a:pathLst>
              <a:path h="1060524" w="1440217">
                <a:moveTo>
                  <a:pt x="0" y="0"/>
                </a:moveTo>
                <a:lnTo>
                  <a:pt x="1440218" y="0"/>
                </a:lnTo>
                <a:lnTo>
                  <a:pt x="1440218" y="1060523"/>
                </a:lnTo>
                <a:lnTo>
                  <a:pt x="0" y="1060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39132" y="2846972"/>
            <a:ext cx="10644470" cy="248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3"/>
              </a:lnSpc>
            </a:pPr>
            <a:r>
              <a:rPr lang="en-US" sz="7037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DROSOPHILA BEHAVIORAL ANALYSIS</a:t>
            </a:r>
          </a:p>
          <a:p>
            <a:pPr algn="ctr" marL="0" indent="0" lvl="0">
              <a:lnSpc>
                <a:spcPts val="6403"/>
              </a:lnSpc>
            </a:pPr>
            <a:r>
              <a:rPr lang="en-US" sz="7037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PHÂN TÍCH HÀNH VI VẬN ĐỘNG CỦA RUỒI GIẤM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685393" y="6873852"/>
            <a:ext cx="5351949" cy="1014218"/>
          </a:xfrm>
          <a:custGeom>
            <a:avLst/>
            <a:gdLst/>
            <a:ahLst/>
            <a:cxnLst/>
            <a:rect r="r" b="b" t="t" l="l"/>
            <a:pathLst>
              <a:path h="1014218" w="5351949">
                <a:moveTo>
                  <a:pt x="0" y="0"/>
                </a:moveTo>
                <a:lnTo>
                  <a:pt x="5351949" y="0"/>
                </a:lnTo>
                <a:lnTo>
                  <a:pt x="5351949" y="1014218"/>
                </a:lnTo>
                <a:lnTo>
                  <a:pt x="0" y="10142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64512" y="8516612"/>
            <a:ext cx="2889563" cy="618523"/>
            <a:chOff x="0" y="0"/>
            <a:chExt cx="761037" cy="162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037" cy="162903"/>
            </a:xfrm>
            <a:custGeom>
              <a:avLst/>
              <a:gdLst/>
              <a:ahLst/>
              <a:cxnLst/>
              <a:rect r="r" b="b" t="t" l="l"/>
              <a:pathLst>
                <a:path h="162903" w="761037">
                  <a:moveTo>
                    <a:pt x="81452" y="0"/>
                  </a:moveTo>
                  <a:lnTo>
                    <a:pt x="679586" y="0"/>
                  </a:lnTo>
                  <a:cubicBezTo>
                    <a:pt x="701188" y="0"/>
                    <a:pt x="721905" y="8581"/>
                    <a:pt x="737181" y="23857"/>
                  </a:cubicBezTo>
                  <a:cubicBezTo>
                    <a:pt x="752456" y="39132"/>
                    <a:pt x="761037" y="59849"/>
                    <a:pt x="761037" y="81452"/>
                  </a:cubicBezTo>
                  <a:lnTo>
                    <a:pt x="761037" y="81452"/>
                  </a:lnTo>
                  <a:cubicBezTo>
                    <a:pt x="761037" y="126436"/>
                    <a:pt x="724570" y="162903"/>
                    <a:pt x="679586" y="162903"/>
                  </a:cubicBezTo>
                  <a:lnTo>
                    <a:pt x="81452" y="162903"/>
                  </a:lnTo>
                  <a:cubicBezTo>
                    <a:pt x="36467" y="162903"/>
                    <a:pt x="0" y="126436"/>
                    <a:pt x="0" y="81452"/>
                  </a:cubicBezTo>
                  <a:lnTo>
                    <a:pt x="0" y="81452"/>
                  </a:lnTo>
                  <a:cubicBezTo>
                    <a:pt x="0" y="36467"/>
                    <a:pt x="36467" y="0"/>
                    <a:pt x="81452" y="0"/>
                  </a:cubicBezTo>
                  <a:close/>
                </a:path>
              </a:pathLst>
            </a:custGeom>
            <a:solidFill>
              <a:srgbClr val="182B5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761037" cy="21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55676" y="8516612"/>
            <a:ext cx="2339360" cy="618523"/>
            <a:chOff x="0" y="0"/>
            <a:chExt cx="616128" cy="1629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6128" cy="162903"/>
            </a:xfrm>
            <a:custGeom>
              <a:avLst/>
              <a:gdLst/>
              <a:ahLst/>
              <a:cxnLst/>
              <a:rect r="r" b="b" t="t" l="l"/>
              <a:pathLst>
                <a:path h="162903" w="616128">
                  <a:moveTo>
                    <a:pt x="81452" y="0"/>
                  </a:moveTo>
                  <a:lnTo>
                    <a:pt x="534676" y="0"/>
                  </a:lnTo>
                  <a:cubicBezTo>
                    <a:pt x="579661" y="0"/>
                    <a:pt x="616128" y="36467"/>
                    <a:pt x="616128" y="81452"/>
                  </a:cubicBezTo>
                  <a:lnTo>
                    <a:pt x="616128" y="81452"/>
                  </a:lnTo>
                  <a:cubicBezTo>
                    <a:pt x="616128" y="126436"/>
                    <a:pt x="579661" y="162903"/>
                    <a:pt x="534676" y="162903"/>
                  </a:cubicBezTo>
                  <a:lnTo>
                    <a:pt x="81452" y="162903"/>
                  </a:lnTo>
                  <a:cubicBezTo>
                    <a:pt x="36467" y="162903"/>
                    <a:pt x="0" y="126436"/>
                    <a:pt x="0" y="81452"/>
                  </a:cubicBezTo>
                  <a:lnTo>
                    <a:pt x="0" y="81452"/>
                  </a:lnTo>
                  <a:cubicBezTo>
                    <a:pt x="0" y="36467"/>
                    <a:pt x="36467" y="0"/>
                    <a:pt x="81452" y="0"/>
                  </a:cubicBezTo>
                  <a:close/>
                </a:path>
              </a:pathLst>
            </a:custGeom>
            <a:solidFill>
              <a:srgbClr val="182B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16128" cy="21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13488">
            <a:off x="16230600" y="-17339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41554">
            <a:off x="17233482" y="-1151381"/>
            <a:ext cx="2642567" cy="2642567"/>
          </a:xfrm>
          <a:custGeom>
            <a:avLst/>
            <a:gdLst/>
            <a:ahLst/>
            <a:cxnLst/>
            <a:rect r="r" b="b" t="t" l="l"/>
            <a:pathLst>
              <a:path h="2642567" w="2642567">
                <a:moveTo>
                  <a:pt x="0" y="0"/>
                </a:moveTo>
                <a:lnTo>
                  <a:pt x="2642566" y="0"/>
                </a:lnTo>
                <a:lnTo>
                  <a:pt x="2642566" y="2642567"/>
                </a:lnTo>
                <a:lnTo>
                  <a:pt x="0" y="264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005383" y="3481592"/>
            <a:ext cx="2377568" cy="1301178"/>
          </a:xfrm>
          <a:custGeom>
            <a:avLst/>
            <a:gdLst/>
            <a:ahLst/>
            <a:cxnLst/>
            <a:rect r="r" b="b" t="t" l="l"/>
            <a:pathLst>
              <a:path h="1301178" w="2377568">
                <a:moveTo>
                  <a:pt x="0" y="0"/>
                </a:moveTo>
                <a:lnTo>
                  <a:pt x="2377568" y="0"/>
                </a:lnTo>
                <a:lnTo>
                  <a:pt x="2377568" y="1301179"/>
                </a:lnTo>
                <a:lnTo>
                  <a:pt x="0" y="13011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28419" y="6910965"/>
            <a:ext cx="2377568" cy="1301178"/>
          </a:xfrm>
          <a:custGeom>
            <a:avLst/>
            <a:gdLst/>
            <a:ahLst/>
            <a:cxnLst/>
            <a:rect r="r" b="b" t="t" l="l"/>
            <a:pathLst>
              <a:path h="1301178" w="2377568">
                <a:moveTo>
                  <a:pt x="0" y="0"/>
                </a:moveTo>
                <a:lnTo>
                  <a:pt x="2377568" y="0"/>
                </a:lnTo>
                <a:lnTo>
                  <a:pt x="2377568" y="1301178"/>
                </a:lnTo>
                <a:lnTo>
                  <a:pt x="0" y="13011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529823">
            <a:off x="-2395871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301757">
            <a:off x="-1805151" y="9170451"/>
            <a:ext cx="2642567" cy="2642567"/>
          </a:xfrm>
          <a:custGeom>
            <a:avLst/>
            <a:gdLst/>
            <a:ahLst/>
            <a:cxnLst/>
            <a:rect r="r" b="b" t="t" l="l"/>
            <a:pathLst>
              <a:path h="2642567" w="2642567">
                <a:moveTo>
                  <a:pt x="0" y="0"/>
                </a:moveTo>
                <a:lnTo>
                  <a:pt x="2642567" y="0"/>
                </a:lnTo>
                <a:lnTo>
                  <a:pt x="2642567" y="2642566"/>
                </a:lnTo>
                <a:lnTo>
                  <a:pt x="0" y="2642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19703" y="8657631"/>
            <a:ext cx="2379181" cy="29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8"/>
              </a:lnSpc>
            </a:pPr>
            <a:r>
              <a:rPr lang="en-US" b="true" sz="174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Presenter: Lê Tấn Vĩ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85393" y="7033388"/>
            <a:ext cx="5149859" cy="603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</a:pPr>
            <a:r>
              <a:rPr lang="en-US" b="true" sz="17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Ứng dụng Phân tích dữ liệu trong nghiên cứu y sinh (Mô hình Parkinson)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20837" y="8657652"/>
            <a:ext cx="1809039" cy="29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9"/>
              </a:lnSpc>
            </a:pPr>
            <a:r>
              <a:rPr lang="en-US" b="true" sz="174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Y Sinh Học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78956" y="2262491"/>
            <a:ext cx="2031895" cy="21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199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Fauget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5780" y="3528591"/>
            <a:ext cx="15636440" cy="373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4"/>
              </a:lnSpc>
            </a:pPr>
            <a:r>
              <a:rPr lang="en-US" sz="3024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Khám phá nhịp sinh học tự nhiên của ruồi giấm (Drosophila melanogaster) theo chu kỳ 24 giờ</a:t>
            </a:r>
          </a:p>
          <a:p>
            <a:pPr algn="l" marL="0" indent="0" lvl="0">
              <a:lnSpc>
                <a:spcPts val="4234"/>
              </a:lnSpc>
            </a:pPr>
            <a:r>
              <a:rPr lang="en-US" sz="3024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Xác định sự khác biệt mức độ vận động giữa 105 kiểu gen (genotypes) khác nhau trong điều kiện thí nghiệm chuẩn hóa</a:t>
            </a:r>
          </a:p>
          <a:p>
            <a:pPr algn="l" marL="0" indent="0" lvl="0">
              <a:lnSpc>
                <a:spcPts val="4234"/>
              </a:lnSpc>
            </a:pPr>
            <a:r>
              <a:rPr lang="en-US" sz="3024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Dữ liệu: 344.000 dòng dữ liệu cảm biến vận động, không có giá trị khuyết thiếu — đảm bảo độ tin cậy phân tích cao</a:t>
            </a:r>
          </a:p>
          <a:p>
            <a:pPr algn="l" marL="0" indent="0" lvl="0">
              <a:lnSpc>
                <a:spcPts val="4234"/>
              </a:lnSpc>
            </a:pPr>
            <a:r>
              <a:rPr lang="en-US" sz="3024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Ứng dụng kết quả vào nghiên cứu mô hình bệnh Parkinson trên sinh vật mô hình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6254302">
            <a:off x="-1447051" y="-22063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08683">
            <a:off x="16782217" y="8931272"/>
            <a:ext cx="654056" cy="654056"/>
          </a:xfrm>
          <a:custGeom>
            <a:avLst/>
            <a:gdLst/>
            <a:ahLst/>
            <a:cxnLst/>
            <a:rect r="r" b="b" t="t" l="l"/>
            <a:pathLst>
              <a:path h="654056" w="654056">
                <a:moveTo>
                  <a:pt x="0" y="0"/>
                </a:moveTo>
                <a:lnTo>
                  <a:pt x="654056" y="0"/>
                </a:lnTo>
                <a:lnTo>
                  <a:pt x="654056" y="654056"/>
                </a:lnTo>
                <a:lnTo>
                  <a:pt x="0" y="6540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004222" y="787296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78866" y="1947010"/>
            <a:ext cx="4386081" cy="820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43"/>
              </a:lnSpc>
              <a:spcBef>
                <a:spcPct val="0"/>
              </a:spcBef>
            </a:pPr>
            <a:r>
              <a:rPr lang="en-US" sz="4817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Mục tiêu nghiên cứu</a:t>
            </a:r>
          </a:p>
        </p:txBody>
      </p:sp>
    </p:spTree>
  </p:cSld>
  <p:clrMapOvr>
    <a:masterClrMapping/>
  </p:clrMapOvr>
  <p:transition spd="slow">
    <p:cover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65496">
            <a:off x="687509" y="381572"/>
            <a:ext cx="5133050" cy="5735251"/>
          </a:xfrm>
          <a:custGeom>
            <a:avLst/>
            <a:gdLst/>
            <a:ahLst/>
            <a:cxnLst/>
            <a:rect r="r" b="b" t="t" l="l"/>
            <a:pathLst>
              <a:path h="5735251" w="5133050">
                <a:moveTo>
                  <a:pt x="0" y="0"/>
                </a:moveTo>
                <a:lnTo>
                  <a:pt x="5133050" y="0"/>
                </a:lnTo>
                <a:lnTo>
                  <a:pt x="5133050" y="5735252"/>
                </a:lnTo>
                <a:lnTo>
                  <a:pt x="0" y="5735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35265" y="3727443"/>
            <a:ext cx="11003797" cy="397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3"/>
              </a:lnSpc>
              <a:spcBef>
                <a:spcPct val="0"/>
              </a:spcBef>
            </a:pPr>
            <a:r>
              <a:rPr lang="en-US" sz="2795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Ép kiểu dữ liệu thời gian chuẩn (datetime formatting) để đảm bảo tính nhất quán trong phân tích chuỗi thời gian</a:t>
            </a:r>
          </a:p>
          <a:p>
            <a:pPr algn="l" marL="0" indent="0" lvl="0">
              <a:lnSpc>
                <a:spcPts val="391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3"/>
              </a:lnSpc>
              <a:spcBef>
                <a:spcPct val="0"/>
              </a:spcBef>
            </a:pPr>
            <a:r>
              <a:rPr lang="en-US" sz="2795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Trích xuất đặc trưng Giờ (Hour) và Ngày (Date) từ nhãn thời gian để phân tích chu kỳ sinh học</a:t>
            </a:r>
          </a:p>
          <a:p>
            <a:pPr algn="l" marL="0" indent="0" lvl="0">
              <a:lnSpc>
                <a:spcPts val="3913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3"/>
              </a:lnSpc>
              <a:spcBef>
                <a:spcPct val="0"/>
              </a:spcBef>
            </a:pPr>
            <a:r>
              <a:rPr lang="en-US" sz="2795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Gộp nhóm (Groupby) theo kiểu gen và chu kỳ thời gian để tính mức độ hoạt động trung bình của từng dòng gen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467161" y="-1415562"/>
            <a:ext cx="4589975" cy="4589975"/>
          </a:xfrm>
          <a:custGeom>
            <a:avLst/>
            <a:gdLst/>
            <a:ahLst/>
            <a:cxnLst/>
            <a:rect r="r" b="b" t="t" l="l"/>
            <a:pathLst>
              <a:path h="4589975" w="4589975">
                <a:moveTo>
                  <a:pt x="0" y="0"/>
                </a:moveTo>
                <a:lnTo>
                  <a:pt x="4589975" y="0"/>
                </a:lnTo>
                <a:lnTo>
                  <a:pt x="4589975" y="4589976"/>
                </a:lnTo>
                <a:lnTo>
                  <a:pt x="0" y="4589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59088" y="2291254"/>
            <a:ext cx="7062981" cy="11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79"/>
              </a:lnSpc>
              <a:spcBef>
                <a:spcPct val="0"/>
              </a:spcBef>
            </a:pPr>
            <a:r>
              <a:rPr lang="en-US" sz="6842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Phương pháp Phân tích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874576">
            <a:off x="15049980" y="5562649"/>
            <a:ext cx="6059205" cy="6059205"/>
          </a:xfrm>
          <a:custGeom>
            <a:avLst/>
            <a:gdLst/>
            <a:ahLst/>
            <a:cxnLst/>
            <a:rect r="r" b="b" t="t" l="l"/>
            <a:pathLst>
              <a:path h="6059205" w="6059205">
                <a:moveTo>
                  <a:pt x="0" y="0"/>
                </a:moveTo>
                <a:lnTo>
                  <a:pt x="6059205" y="0"/>
                </a:lnTo>
                <a:lnTo>
                  <a:pt x="6059205" y="6059205"/>
                </a:lnTo>
                <a:lnTo>
                  <a:pt x="0" y="6059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32699" y="861173"/>
            <a:ext cx="8723467" cy="8564653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2808683">
            <a:off x="16782217" y="8931272"/>
            <a:ext cx="654056" cy="654056"/>
          </a:xfrm>
          <a:custGeom>
            <a:avLst/>
            <a:gdLst/>
            <a:ahLst/>
            <a:cxnLst/>
            <a:rect r="r" b="b" t="t" l="l"/>
            <a:pathLst>
              <a:path h="654056" w="654056">
                <a:moveTo>
                  <a:pt x="0" y="0"/>
                </a:moveTo>
                <a:lnTo>
                  <a:pt x="654056" y="0"/>
                </a:lnTo>
                <a:lnTo>
                  <a:pt x="654056" y="654056"/>
                </a:lnTo>
                <a:lnTo>
                  <a:pt x="0" y="654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97548" y="-198446"/>
            <a:ext cx="3995097" cy="4114800"/>
          </a:xfrm>
          <a:custGeom>
            <a:avLst/>
            <a:gdLst/>
            <a:ahLst/>
            <a:cxnLst/>
            <a:rect r="r" b="b" t="t" l="l"/>
            <a:pathLst>
              <a:path h="4114800" w="3995097">
                <a:moveTo>
                  <a:pt x="0" y="0"/>
                </a:moveTo>
                <a:lnTo>
                  <a:pt x="3995096" y="0"/>
                </a:lnTo>
                <a:lnTo>
                  <a:pt x="3995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0554" y="2492371"/>
            <a:ext cx="6848239" cy="60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6"/>
              </a:lnSpc>
            </a:pPr>
            <a:r>
              <a:rPr lang="en-US" sz="4950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Nhịp Sinh Học Hàng Ngày Rõ Rệt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0554" y="3570388"/>
            <a:ext cx="7643446" cy="411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Ruồi giấm thể hiện nhịp sinh học hàng ngày rõ rệt với hai khung giờ hoạt động đỉnh điểm đặc trưng: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Sáng sớm (6:00 – 8:00):</a:t>
            </a: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 mức độ vận động tăng mạnh sau giai đoạn nghỉ ngơi ban đêm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Chập tối (18:00 – 20:00): </a:t>
            </a: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đỉnh hoạt động thứ hai trước khi bước vào trạng thái nghỉ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Giữa ngày và ban đêm</a:t>
            </a: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: mức độ hoạt động thấp, phản ánh chu kỳ sinh học tự nhiên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473853" y="-779100"/>
            <a:ext cx="3995097" cy="4114800"/>
          </a:xfrm>
          <a:custGeom>
            <a:avLst/>
            <a:gdLst/>
            <a:ahLst/>
            <a:cxnLst/>
            <a:rect r="r" b="b" t="t" l="l"/>
            <a:pathLst>
              <a:path h="4114800" w="3995097">
                <a:moveTo>
                  <a:pt x="0" y="0"/>
                </a:moveTo>
                <a:lnTo>
                  <a:pt x="3995096" y="0"/>
                </a:lnTo>
                <a:lnTo>
                  <a:pt x="3995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26553" y="861717"/>
            <a:ext cx="8735759" cy="8563566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2808683">
            <a:off x="16782217" y="8931272"/>
            <a:ext cx="654056" cy="654056"/>
          </a:xfrm>
          <a:custGeom>
            <a:avLst/>
            <a:gdLst/>
            <a:ahLst/>
            <a:cxnLst/>
            <a:rect r="r" b="b" t="t" l="l"/>
            <a:pathLst>
              <a:path h="654056" w="654056">
                <a:moveTo>
                  <a:pt x="0" y="0"/>
                </a:moveTo>
                <a:lnTo>
                  <a:pt x="654056" y="0"/>
                </a:lnTo>
                <a:lnTo>
                  <a:pt x="654056" y="654056"/>
                </a:lnTo>
                <a:lnTo>
                  <a:pt x="0" y="654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97548" y="-198446"/>
            <a:ext cx="3995097" cy="4114800"/>
          </a:xfrm>
          <a:custGeom>
            <a:avLst/>
            <a:gdLst/>
            <a:ahLst/>
            <a:cxnLst/>
            <a:rect r="r" b="b" t="t" l="l"/>
            <a:pathLst>
              <a:path h="4114800" w="3995097">
                <a:moveTo>
                  <a:pt x="0" y="0"/>
                </a:moveTo>
                <a:lnTo>
                  <a:pt x="3995096" y="0"/>
                </a:lnTo>
                <a:lnTo>
                  <a:pt x="3995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00554" y="2492371"/>
            <a:ext cx="6848239" cy="111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9"/>
              </a:lnSpc>
            </a:pPr>
            <a:r>
              <a:rPr lang="en-US" sz="4861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Kiểu gen quyết định mức độ vận động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0554" y="3570388"/>
            <a:ext cx="7643446" cy="4115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Phân hóa mạnh mẽ giữa 105 dòng gen về mức độ vận động: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Top 5 dòng gen năng động nhất có mức hoạt động vượt trội rõ rệt so với </a:t>
            </a: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Top 5 dòng gen thụ động nhất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Sự khác biệt này gợi ý mối liên hệ di truyền với các bệnh lý vận động như Parkinson</a:t>
            </a:r>
          </a:p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Dữ liệu từ </a:t>
            </a: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344.000</a:t>
            </a:r>
            <a:r>
              <a:rPr lang="en-US" sz="259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 dòng cảm biến trên </a:t>
            </a:r>
            <a:r>
              <a:rPr lang="en-US" b="true" sz="259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105 kiểu gen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473853" y="-779100"/>
            <a:ext cx="3995097" cy="4114800"/>
          </a:xfrm>
          <a:custGeom>
            <a:avLst/>
            <a:gdLst/>
            <a:ahLst/>
            <a:cxnLst/>
            <a:rect r="r" b="b" t="t" l="l"/>
            <a:pathLst>
              <a:path h="4114800" w="3995097">
                <a:moveTo>
                  <a:pt x="0" y="0"/>
                </a:moveTo>
                <a:lnTo>
                  <a:pt x="3995096" y="0"/>
                </a:lnTo>
                <a:lnTo>
                  <a:pt x="39950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08683">
            <a:off x="16782217" y="8931272"/>
            <a:ext cx="654056" cy="654056"/>
          </a:xfrm>
          <a:custGeom>
            <a:avLst/>
            <a:gdLst/>
            <a:ahLst/>
            <a:cxnLst/>
            <a:rect r="r" b="b" t="t" l="l"/>
            <a:pathLst>
              <a:path h="654056" w="654056">
                <a:moveTo>
                  <a:pt x="0" y="0"/>
                </a:moveTo>
                <a:lnTo>
                  <a:pt x="654056" y="0"/>
                </a:lnTo>
                <a:lnTo>
                  <a:pt x="654056" y="654056"/>
                </a:lnTo>
                <a:lnTo>
                  <a:pt x="0" y="654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69864" y="7404246"/>
            <a:ext cx="2898564" cy="2882754"/>
          </a:xfrm>
          <a:custGeom>
            <a:avLst/>
            <a:gdLst/>
            <a:ahLst/>
            <a:cxnLst/>
            <a:rect r="r" b="b" t="t" l="l"/>
            <a:pathLst>
              <a:path h="2882754" w="2898564">
                <a:moveTo>
                  <a:pt x="0" y="0"/>
                </a:moveTo>
                <a:lnTo>
                  <a:pt x="2898564" y="0"/>
                </a:lnTo>
                <a:lnTo>
                  <a:pt x="2898564" y="2882754"/>
                </a:lnTo>
                <a:lnTo>
                  <a:pt x="0" y="2882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29799" y="1639015"/>
            <a:ext cx="9143248" cy="101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34"/>
              </a:lnSpc>
              <a:spcBef>
                <a:spcPct val="0"/>
              </a:spcBef>
            </a:pPr>
            <a:r>
              <a:rPr lang="en-US" sz="5881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Đề xuất nghiên cứu tiếp theo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0535" y="3439304"/>
            <a:ext cx="7176607" cy="558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0"/>
              </a:lnSpc>
              <a:spcBef>
                <a:spcPct val="0"/>
              </a:spcBef>
            </a:pPr>
            <a:r>
              <a:rPr lang="en-US" b="true" sz="300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Đối chiếu giải trình tự gen: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Phân tích trình tự gen của Top 5 dòng gen lười vận động nhất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Tìm kiếm các </a:t>
            </a: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đột biến gen tương đồng với bệnh Parkinson ở người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So sánh với cơ sở dữ liệu đột biến gen liên quan đến thoái hóa thần kinh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b="true" sz="260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•</a:t>
            </a: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 Xây dựng mô hình Drosophila mô phỏng bệnh Parkinson giai đoạn sớm ⟶ Chạy 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82508" y="3556013"/>
            <a:ext cx="7176607" cy="558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0"/>
              </a:lnSpc>
              <a:spcBef>
                <a:spcPct val="0"/>
              </a:spcBef>
            </a:pPr>
            <a:r>
              <a:rPr lang="en-US" b="true" sz="3007">
                <a:solidFill>
                  <a:srgbClr val="10265D"/>
                </a:solidFill>
                <a:latin typeface="Poppins Bold"/>
                <a:ea typeface="Poppins Bold"/>
                <a:cs typeface="Poppins Bold"/>
                <a:sym typeface="Poppins Bold"/>
              </a:rPr>
              <a:t>Thử nghiệm thuốc tối ưu: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Lên lịch thử nghiệm thuốc (drug testing) vào khung giờ hoạt động đỉnh điểm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Tận dụng nhịp sinh học tự nhiên để tối ưu hóa hiệu quả hấp thu thuốc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Đánh giá tác động của thuốc lên mức độ vận động theo từng kiểu gen</a:t>
            </a: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10265D"/>
                </a:solidFill>
                <a:latin typeface="Poppins"/>
                <a:ea typeface="Poppins"/>
                <a:cs typeface="Poppins"/>
                <a:sym typeface="Poppins"/>
              </a:rPr>
              <a:t>• Mở rộng nghiên cứu sang các mô hình y sinh học phức tạp hơn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449282" y="0"/>
            <a:ext cx="2898564" cy="2882754"/>
          </a:xfrm>
          <a:custGeom>
            <a:avLst/>
            <a:gdLst/>
            <a:ahLst/>
            <a:cxnLst/>
            <a:rect r="r" b="b" t="t" l="l"/>
            <a:pathLst>
              <a:path h="2882754" w="2898564">
                <a:moveTo>
                  <a:pt x="0" y="0"/>
                </a:moveTo>
                <a:lnTo>
                  <a:pt x="2898564" y="0"/>
                </a:lnTo>
                <a:lnTo>
                  <a:pt x="2898564" y="2882754"/>
                </a:lnTo>
                <a:lnTo>
                  <a:pt x="0" y="2882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76529" y="-231075"/>
            <a:ext cx="2898564" cy="2882754"/>
          </a:xfrm>
          <a:custGeom>
            <a:avLst/>
            <a:gdLst/>
            <a:ahLst/>
            <a:cxnLst/>
            <a:rect r="r" b="b" t="t" l="l"/>
            <a:pathLst>
              <a:path h="2882754" w="2898564">
                <a:moveTo>
                  <a:pt x="0" y="0"/>
                </a:moveTo>
                <a:lnTo>
                  <a:pt x="2898564" y="0"/>
                </a:lnTo>
                <a:lnTo>
                  <a:pt x="2898564" y="2882754"/>
                </a:lnTo>
                <a:lnTo>
                  <a:pt x="0" y="2882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00" r="0" b="-5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9687" y="3455603"/>
            <a:ext cx="13988626" cy="421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3"/>
              </a:lnSpc>
            </a:pPr>
            <a:r>
              <a:rPr lang="en-US" sz="7190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 &amp; Q&amp;A</a:t>
            </a:r>
          </a:p>
          <a:p>
            <a:pPr algn="ctr" marL="0" indent="0" lvl="0">
              <a:lnSpc>
                <a:spcPts val="6543"/>
              </a:lnSpc>
            </a:pPr>
          </a:p>
          <a:p>
            <a:pPr algn="ctr" marL="0" indent="0" lvl="0">
              <a:lnSpc>
                <a:spcPts val="6543"/>
              </a:lnSpc>
            </a:pPr>
            <a:r>
              <a:rPr lang="en-US" sz="7190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LỜI CẢM ƠN CHÂN THÀNH TỚI QUÝ KHÁN GIẢ!</a:t>
            </a:r>
          </a:p>
          <a:p>
            <a:pPr algn="ctr" marL="0" indent="0" lvl="0">
              <a:lnSpc>
                <a:spcPts val="6543"/>
              </a:lnSpc>
            </a:pPr>
          </a:p>
          <a:p>
            <a:pPr algn="ctr" marL="0" indent="0" lvl="0">
              <a:lnSpc>
                <a:spcPts val="6543"/>
              </a:lnSpc>
            </a:pPr>
            <a:r>
              <a:rPr lang="en-US" sz="7190">
                <a:solidFill>
                  <a:srgbClr val="10265D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GITHUB: TANVI3001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813488">
            <a:off x="16230600" y="-17339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41554">
            <a:off x="17233482" y="-1151381"/>
            <a:ext cx="2642567" cy="2642567"/>
          </a:xfrm>
          <a:custGeom>
            <a:avLst/>
            <a:gdLst/>
            <a:ahLst/>
            <a:cxnLst/>
            <a:rect r="r" b="b" t="t" l="l"/>
            <a:pathLst>
              <a:path h="2642567" w="2642567">
                <a:moveTo>
                  <a:pt x="0" y="0"/>
                </a:moveTo>
                <a:lnTo>
                  <a:pt x="2642566" y="0"/>
                </a:lnTo>
                <a:lnTo>
                  <a:pt x="2642566" y="2642567"/>
                </a:lnTo>
                <a:lnTo>
                  <a:pt x="0" y="26425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05383" y="3481592"/>
            <a:ext cx="2377568" cy="1301178"/>
          </a:xfrm>
          <a:custGeom>
            <a:avLst/>
            <a:gdLst/>
            <a:ahLst/>
            <a:cxnLst/>
            <a:rect r="r" b="b" t="t" l="l"/>
            <a:pathLst>
              <a:path h="1301178" w="2377568">
                <a:moveTo>
                  <a:pt x="0" y="0"/>
                </a:moveTo>
                <a:lnTo>
                  <a:pt x="2377568" y="0"/>
                </a:lnTo>
                <a:lnTo>
                  <a:pt x="2377568" y="1301179"/>
                </a:lnTo>
                <a:lnTo>
                  <a:pt x="0" y="13011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28419" y="6910965"/>
            <a:ext cx="2377568" cy="1301178"/>
          </a:xfrm>
          <a:custGeom>
            <a:avLst/>
            <a:gdLst/>
            <a:ahLst/>
            <a:cxnLst/>
            <a:rect r="r" b="b" t="t" l="l"/>
            <a:pathLst>
              <a:path h="1301178" w="2377568">
                <a:moveTo>
                  <a:pt x="0" y="0"/>
                </a:moveTo>
                <a:lnTo>
                  <a:pt x="2377568" y="0"/>
                </a:lnTo>
                <a:lnTo>
                  <a:pt x="2377568" y="1301178"/>
                </a:lnTo>
                <a:lnTo>
                  <a:pt x="0" y="13011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29823">
            <a:off x="-2395871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301757">
            <a:off x="-1805151" y="9170451"/>
            <a:ext cx="2642567" cy="2642567"/>
          </a:xfrm>
          <a:custGeom>
            <a:avLst/>
            <a:gdLst/>
            <a:ahLst/>
            <a:cxnLst/>
            <a:rect r="r" b="b" t="t" l="l"/>
            <a:pathLst>
              <a:path h="2642567" w="2642567">
                <a:moveTo>
                  <a:pt x="0" y="0"/>
                </a:moveTo>
                <a:lnTo>
                  <a:pt x="2642567" y="0"/>
                </a:lnTo>
                <a:lnTo>
                  <a:pt x="2642567" y="2642566"/>
                </a:lnTo>
                <a:lnTo>
                  <a:pt x="0" y="2642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DAHR0psQDfk</dc:identifier>
  <dcterms:modified xsi:type="dcterms:W3CDTF">2011-08-01T06:04:30Z</dcterms:modified>
  <cp:revision>1</cp:revision>
  <dc:title>Drosophila Behavioral Analysis: Neurodata Insights</dc:title>
</cp:coreProperties>
</file>